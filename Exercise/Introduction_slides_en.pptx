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5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FWYsrWVBTZ2+EkRm8+SPOCZqNF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ona Perbix" initials="" lastIdx="1" clrIdx="0"/>
  <p:cmAuthor id="1" name="Sebastian Stäubert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customschemas.google.com/relationships/presentationmetadata" Target="meta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2b12c1389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2b12c1389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2b12c1389a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Titelfoli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5" descr="/Volumes/Daten/Uni_Leipzig/1_Corporate_Design/17_351_UniLE_MF_Aktualisierung CD-Handbuch/Grafik/Produktion/Datenvorlagen/_UniLE_MF_Marke/MF_Marke/180504_Medizinische_Fakultaet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3094" y="19059"/>
            <a:ext cx="3401276" cy="154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5"/>
          <p:cNvSpPr txBox="1">
            <a:spLocks noGrp="1"/>
          </p:cNvSpPr>
          <p:nvPr>
            <p:ph type="ctrTitle"/>
          </p:nvPr>
        </p:nvSpPr>
        <p:spPr>
          <a:xfrm>
            <a:off x="295687" y="2078847"/>
            <a:ext cx="8092705" cy="1487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subTitle" idx="1"/>
          </p:nvPr>
        </p:nvSpPr>
        <p:spPr>
          <a:xfrm>
            <a:off x="295687" y="1606876"/>
            <a:ext cx="6400800" cy="471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5"/>
          <p:cNvSpPr>
            <a:spLocks noGrp="1"/>
          </p:cNvSpPr>
          <p:nvPr>
            <p:ph type="pic" idx="2"/>
          </p:nvPr>
        </p:nvSpPr>
        <p:spPr>
          <a:xfrm>
            <a:off x="295687" y="4439286"/>
            <a:ext cx="2098597" cy="5175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7" name="Google Shape;17;p15"/>
          <p:cNvSpPr>
            <a:spLocks noGrp="1"/>
          </p:cNvSpPr>
          <p:nvPr>
            <p:ph type="pic" idx="3"/>
          </p:nvPr>
        </p:nvSpPr>
        <p:spPr>
          <a:xfrm>
            <a:off x="2453698" y="4444369"/>
            <a:ext cx="2184476" cy="5175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8" name="Google Shape;18;p15"/>
          <p:cNvSpPr/>
          <p:nvPr/>
        </p:nvSpPr>
        <p:spPr>
          <a:xfrm rot="348924">
            <a:off x="8471146" y="-38043"/>
            <a:ext cx="956809" cy="5256635"/>
          </a:xfrm>
          <a:custGeom>
            <a:avLst/>
            <a:gdLst/>
            <a:ahLst/>
            <a:cxnLst/>
            <a:rect l="l" t="t" r="r" b="b"/>
            <a:pathLst>
              <a:path w="781424" h="5245637" extrusionOk="0">
                <a:moveTo>
                  <a:pt x="0" y="5245637"/>
                </a:moveTo>
                <a:lnTo>
                  <a:pt x="339503" y="0"/>
                </a:lnTo>
                <a:lnTo>
                  <a:pt x="781424" y="5149745"/>
                </a:lnTo>
                <a:lnTo>
                  <a:pt x="0" y="5245637"/>
                </a:lnTo>
                <a:close/>
              </a:path>
            </a:pathLst>
          </a:custGeom>
          <a:solidFill>
            <a:srgbClr val="008AC9"/>
          </a:solidFill>
          <a:ln w="9525" cap="flat" cmpd="sng">
            <a:solidFill>
              <a:srgbClr val="0087C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5"/>
          <p:cNvSpPr/>
          <p:nvPr/>
        </p:nvSpPr>
        <p:spPr>
          <a:xfrm rot="8241572" flipH="1">
            <a:off x="6280471" y="3669367"/>
            <a:ext cx="3546762" cy="2138528"/>
          </a:xfrm>
          <a:custGeom>
            <a:avLst/>
            <a:gdLst/>
            <a:ahLst/>
            <a:cxnLst/>
            <a:rect l="l" t="t" r="r" b="b"/>
            <a:pathLst>
              <a:path w="3546762" h="2138528" extrusionOk="0">
                <a:moveTo>
                  <a:pt x="0" y="2138528"/>
                </a:moveTo>
                <a:lnTo>
                  <a:pt x="2310704" y="0"/>
                </a:lnTo>
                <a:lnTo>
                  <a:pt x="3546762" y="1345944"/>
                </a:lnTo>
                <a:lnTo>
                  <a:pt x="0" y="2138528"/>
                </a:lnTo>
                <a:close/>
              </a:path>
            </a:pathLst>
          </a:custGeom>
          <a:solidFill>
            <a:srgbClr val="8AC2D1">
              <a:alpha val="49803"/>
            </a:srgbClr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elen Dank!">
  <p:cSld name="Vielen Dank!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093"/>
            <a:ext cx="3429000" cy="144237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9"/>
          <p:cNvSpPr txBox="1">
            <a:spLocks noGrp="1"/>
          </p:cNvSpPr>
          <p:nvPr>
            <p:ph type="ctrTitle"/>
          </p:nvPr>
        </p:nvSpPr>
        <p:spPr>
          <a:xfrm>
            <a:off x="365495" y="2078847"/>
            <a:ext cx="7984797" cy="562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365495" y="2834640"/>
            <a:ext cx="4672172" cy="1847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pic>
        <p:nvPicPr>
          <p:cNvPr id="24" name="Google Shape;24;p19" descr="/Volumes/Daten/Uni_Leipzig/1_Corporate_Design/17_351_UniLE_MF_Aktualisierung CD-Handbuch/Grafik/Produktion/Datenvorlagen/_UniLE_MF_Marke/MF_Marke/180504_Medizinische_Fakultaet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094" y="19059"/>
            <a:ext cx="3401276" cy="1547998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9"/>
          <p:cNvSpPr/>
          <p:nvPr/>
        </p:nvSpPr>
        <p:spPr>
          <a:xfrm rot="348924">
            <a:off x="8471146" y="-38043"/>
            <a:ext cx="956809" cy="5256635"/>
          </a:xfrm>
          <a:custGeom>
            <a:avLst/>
            <a:gdLst/>
            <a:ahLst/>
            <a:cxnLst/>
            <a:rect l="l" t="t" r="r" b="b"/>
            <a:pathLst>
              <a:path w="781424" h="5245637" extrusionOk="0">
                <a:moveTo>
                  <a:pt x="0" y="5245637"/>
                </a:moveTo>
                <a:lnTo>
                  <a:pt x="339503" y="0"/>
                </a:lnTo>
                <a:lnTo>
                  <a:pt x="781424" y="5149745"/>
                </a:lnTo>
                <a:lnTo>
                  <a:pt x="0" y="5245637"/>
                </a:lnTo>
                <a:close/>
              </a:path>
            </a:pathLst>
          </a:custGeom>
          <a:solidFill>
            <a:srgbClr val="008AC9"/>
          </a:solidFill>
          <a:ln w="9525" cap="flat" cmpd="sng">
            <a:solidFill>
              <a:srgbClr val="0087C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9"/>
          <p:cNvSpPr/>
          <p:nvPr/>
        </p:nvSpPr>
        <p:spPr>
          <a:xfrm rot="8241572" flipH="1">
            <a:off x="6280471" y="3669367"/>
            <a:ext cx="3546762" cy="2138528"/>
          </a:xfrm>
          <a:custGeom>
            <a:avLst/>
            <a:gdLst/>
            <a:ahLst/>
            <a:cxnLst/>
            <a:rect l="l" t="t" r="r" b="b"/>
            <a:pathLst>
              <a:path w="3546762" h="2138528" extrusionOk="0">
                <a:moveTo>
                  <a:pt x="0" y="2138528"/>
                </a:moveTo>
                <a:lnTo>
                  <a:pt x="2310704" y="0"/>
                </a:lnTo>
                <a:lnTo>
                  <a:pt x="3546762" y="1345944"/>
                </a:lnTo>
                <a:lnTo>
                  <a:pt x="0" y="2138528"/>
                </a:lnTo>
                <a:close/>
              </a:path>
            </a:pathLst>
          </a:custGeom>
          <a:solidFill>
            <a:srgbClr val="8AC2D1">
              <a:alpha val="49803"/>
            </a:srgbClr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folie rechts">
  <p:cSld name="Zwischenfolie rech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body" idx="1"/>
          </p:nvPr>
        </p:nvSpPr>
        <p:spPr>
          <a:xfrm>
            <a:off x="3501688" y="-5922"/>
            <a:ext cx="5654316" cy="5152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2"/>
          </p:nvPr>
        </p:nvSpPr>
        <p:spPr>
          <a:xfrm>
            <a:off x="4429719" y="-4153"/>
            <a:ext cx="4711557" cy="5154092"/>
          </a:xfrm>
          <a:prstGeom prst="rect">
            <a:avLst/>
          </a:prstGeom>
          <a:solidFill>
            <a:srgbClr val="8AC2D1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rgbClr val="FF5451"/>
                </a:solidFill>
              </a:defRPr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3"/>
          </p:nvPr>
        </p:nvSpPr>
        <p:spPr>
          <a:xfrm>
            <a:off x="5113728" y="1066801"/>
            <a:ext cx="3562911" cy="350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0"/>
          <p:cNvSpPr>
            <a:spLocks noGrp="1"/>
          </p:cNvSpPr>
          <p:nvPr>
            <p:ph type="pic" idx="4"/>
          </p:nvPr>
        </p:nvSpPr>
        <p:spPr>
          <a:xfrm>
            <a:off x="-1" y="0"/>
            <a:ext cx="6115051" cy="5149939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20"/>
          <p:cNvSpPr txBox="1">
            <a:spLocks noGrp="1"/>
          </p:cNvSpPr>
          <p:nvPr>
            <p:ph type="title"/>
          </p:nvPr>
        </p:nvSpPr>
        <p:spPr>
          <a:xfrm>
            <a:off x="5113728" y="1447164"/>
            <a:ext cx="3562911" cy="2201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cap="none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folie links">
  <p:cSld name="Zwischenfolie link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body" idx="1"/>
          </p:nvPr>
        </p:nvSpPr>
        <p:spPr>
          <a:xfrm flipH="1">
            <a:off x="-14439" y="-5922"/>
            <a:ext cx="5654316" cy="5152775"/>
          </a:xfrm>
          <a:prstGeom prst="rect">
            <a:avLst/>
          </a:prstGeom>
          <a:solidFill>
            <a:srgbClr val="008AC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2"/>
          </p:nvPr>
        </p:nvSpPr>
        <p:spPr>
          <a:xfrm flipH="1">
            <a:off x="-14439" y="-4153"/>
            <a:ext cx="4711557" cy="5154092"/>
          </a:xfrm>
          <a:prstGeom prst="rect">
            <a:avLst/>
          </a:prstGeom>
          <a:solidFill>
            <a:srgbClr val="8AC2D1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3"/>
          </p:nvPr>
        </p:nvSpPr>
        <p:spPr>
          <a:xfrm>
            <a:off x="471878" y="1066801"/>
            <a:ext cx="3562911" cy="350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1"/>
          <p:cNvSpPr>
            <a:spLocks noGrp="1"/>
          </p:cNvSpPr>
          <p:nvPr>
            <p:ph type="pic" idx="4"/>
          </p:nvPr>
        </p:nvSpPr>
        <p:spPr>
          <a:xfrm>
            <a:off x="2711450" y="0"/>
            <a:ext cx="6432551" cy="5149939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21"/>
          <p:cNvSpPr txBox="1">
            <a:spLocks noGrp="1"/>
          </p:cNvSpPr>
          <p:nvPr>
            <p:ph type="title"/>
          </p:nvPr>
        </p:nvSpPr>
        <p:spPr>
          <a:xfrm>
            <a:off x="471878" y="1447164"/>
            <a:ext cx="3562911" cy="2201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cap="none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folie ohne Bild">
  <p:cSld name="Zwischenfolie ohne Bild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2"/>
          <p:cNvSpPr txBox="1">
            <a:spLocks noGrp="1"/>
          </p:cNvSpPr>
          <p:nvPr>
            <p:ph type="ctrTitle"/>
          </p:nvPr>
        </p:nvSpPr>
        <p:spPr>
          <a:xfrm>
            <a:off x="257588" y="2078847"/>
            <a:ext cx="6400800" cy="1487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262A3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subTitle" idx="1"/>
          </p:nvPr>
        </p:nvSpPr>
        <p:spPr>
          <a:xfrm>
            <a:off x="257587" y="1740092"/>
            <a:ext cx="6400800" cy="338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rgbClr val="262A31"/>
              </a:buClr>
              <a:buSzPts val="1800"/>
              <a:buNone/>
              <a:defRPr sz="1800">
                <a:solidFill>
                  <a:srgbClr val="262A3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cxnSp>
        <p:nvCxnSpPr>
          <p:cNvPr id="42" name="Google Shape;42;p22"/>
          <p:cNvCxnSpPr/>
          <p:nvPr/>
        </p:nvCxnSpPr>
        <p:spPr>
          <a:xfrm>
            <a:off x="457200" y="4713670"/>
            <a:ext cx="5731459" cy="0"/>
          </a:xfrm>
          <a:prstGeom prst="straightConnector1">
            <a:avLst/>
          </a:prstGeom>
          <a:noFill/>
          <a:ln w="9525" cap="flat" cmpd="sng">
            <a:solidFill>
              <a:srgbClr val="79B2D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3" name="Google Shape;43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" y="4769366"/>
            <a:ext cx="547323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2"/>
          <p:cNvSpPr txBox="1">
            <a:spLocks noGrp="1"/>
          </p:cNvSpPr>
          <p:nvPr>
            <p:ph type="body" idx="2"/>
          </p:nvPr>
        </p:nvSpPr>
        <p:spPr>
          <a:xfrm>
            <a:off x="5873903" y="7674"/>
            <a:ext cx="3368168" cy="5148188"/>
          </a:xfrm>
          <a:prstGeom prst="rect">
            <a:avLst/>
          </a:prstGeom>
          <a:solidFill>
            <a:srgbClr val="008AC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3"/>
          </p:nvPr>
        </p:nvSpPr>
        <p:spPr>
          <a:xfrm>
            <a:off x="6247991" y="1769"/>
            <a:ext cx="4711557" cy="5154092"/>
          </a:xfrm>
          <a:prstGeom prst="rect">
            <a:avLst/>
          </a:prstGeom>
          <a:solidFill>
            <a:srgbClr val="8AC2D1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rgbClr val="FF5451"/>
                </a:solidFill>
              </a:defRPr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 (formatfüllend)">
  <p:cSld name="Bild (formatfüllend)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>
            <a:spLocks noGrp="1"/>
          </p:cNvSpPr>
          <p:nvPr>
            <p:ph type="pic" idx="2"/>
          </p:nvPr>
        </p:nvSpPr>
        <p:spPr>
          <a:xfrm>
            <a:off x="8468" y="8468"/>
            <a:ext cx="9135532" cy="5135032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5873903" y="7674"/>
            <a:ext cx="3368168" cy="5148188"/>
          </a:xfrm>
          <a:prstGeom prst="rect">
            <a:avLst/>
          </a:prstGeom>
          <a:solidFill>
            <a:srgbClr val="008AC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3"/>
          </p:nvPr>
        </p:nvSpPr>
        <p:spPr>
          <a:xfrm>
            <a:off x="6247991" y="1769"/>
            <a:ext cx="4711557" cy="5154092"/>
          </a:xfrm>
          <a:prstGeom prst="rect">
            <a:avLst/>
          </a:prstGeom>
          <a:solidFill>
            <a:srgbClr val="8AC2D1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rgbClr val="FF5451"/>
                </a:solidFill>
              </a:defRPr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 ohne Untertitel">
  <p:cSld name="Titel und Inhalt ohne Untertitel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body"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 mit Text links">
  <p:cSld name="Bild mit Text link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>
            <a:spLocks noGrp="1"/>
          </p:cNvSpPr>
          <p:nvPr>
            <p:ph type="title"/>
          </p:nvPr>
        </p:nvSpPr>
        <p:spPr>
          <a:xfrm>
            <a:off x="457200" y="372533"/>
            <a:ext cx="2692400" cy="99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body" idx="1"/>
          </p:nvPr>
        </p:nvSpPr>
        <p:spPr>
          <a:xfrm>
            <a:off x="457200" y="1503680"/>
            <a:ext cx="2692400" cy="3195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spcBef>
                <a:spcPts val="280"/>
              </a:spcBef>
              <a:spcAft>
                <a:spcPts val="0"/>
              </a:spcAft>
              <a:buClr>
                <a:srgbClr val="D8413E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rgbClr val="D8413E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280"/>
              </a:spcBef>
              <a:spcAft>
                <a:spcPts val="0"/>
              </a:spcAft>
              <a:buClr>
                <a:srgbClr val="D8413E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3352800" y="762000"/>
            <a:ext cx="5791200" cy="3489344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3"/>
          </p:nvPr>
        </p:nvSpPr>
        <p:spPr>
          <a:xfrm>
            <a:off x="3352800" y="4368811"/>
            <a:ext cx="5334000" cy="33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l" rtl="0"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 mit Untertitel">
  <p:cSld name="Titel und Inhalt mit Untertitel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1"/>
          </p:nvPr>
        </p:nvSpPr>
        <p:spPr>
          <a:xfrm>
            <a:off x="457200" y="1617134"/>
            <a:ext cx="8234363" cy="2985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body" idx="2"/>
          </p:nvPr>
        </p:nvSpPr>
        <p:spPr>
          <a:xfrm>
            <a:off x="457200" y="1125940"/>
            <a:ext cx="8234363" cy="37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 - 2 Blöcke">
  <p:cSld name="Titel und Inhalt - 2 Blöcke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>
            <a:off x="457200" y="1617133"/>
            <a:ext cx="3952240" cy="2977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body" idx="2"/>
          </p:nvPr>
        </p:nvSpPr>
        <p:spPr>
          <a:xfrm>
            <a:off x="457200" y="1139588"/>
            <a:ext cx="8229600" cy="364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body" idx="3"/>
          </p:nvPr>
        </p:nvSpPr>
        <p:spPr>
          <a:xfrm>
            <a:off x="4724400" y="1617133"/>
            <a:ext cx="3962400" cy="2977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 mit Bildunterschrift">
  <p:cSld name="Bild mit Bildunterschrif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9" name="Google Shape;79;p26"/>
          <p:cNvSpPr>
            <a:spLocks noGrp="1"/>
          </p:cNvSpPr>
          <p:nvPr>
            <p:ph type="pic" idx="2"/>
          </p:nvPr>
        </p:nvSpPr>
        <p:spPr>
          <a:xfrm>
            <a:off x="457200" y="1243691"/>
            <a:ext cx="8229600" cy="305737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6"/>
          <p:cNvSpPr txBox="1">
            <a:spLocks noGrp="1"/>
          </p:cNvSpPr>
          <p:nvPr>
            <p:ph type="body"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elle">
  <p:cSld name="Tabelle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7"/>
          <p:cNvSpPr txBox="1"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body"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27"/>
          <p:cNvSpPr>
            <a:spLocks noGrp="1"/>
          </p:cNvSpPr>
          <p:nvPr>
            <p:ph type="tbl" idx="2"/>
          </p:nvPr>
        </p:nvSpPr>
        <p:spPr>
          <a:xfrm>
            <a:off x="457200" y="1597677"/>
            <a:ext cx="8234363" cy="269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body" idx="3"/>
          </p:nvPr>
        </p:nvSpPr>
        <p:spPr>
          <a:xfrm>
            <a:off x="457200" y="1141828"/>
            <a:ext cx="8229600" cy="361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Diagramm">
  <p:cSld name="1 Diagramm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8"/>
          <p:cNvSpPr txBox="1"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0" name="Google Shape;90;p28"/>
          <p:cNvSpPr txBox="1">
            <a:spLocks noGrp="1"/>
          </p:cNvSpPr>
          <p:nvPr>
            <p:ph type="body"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28"/>
          <p:cNvSpPr>
            <a:spLocks noGrp="1"/>
          </p:cNvSpPr>
          <p:nvPr>
            <p:ph type="chart" idx="2"/>
          </p:nvPr>
        </p:nvSpPr>
        <p:spPr>
          <a:xfrm>
            <a:off x="457200" y="1229028"/>
            <a:ext cx="8229600" cy="3061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92" name="Google Shape;92;p28"/>
          <p:cNvCxnSpPr/>
          <p:nvPr/>
        </p:nvCxnSpPr>
        <p:spPr>
          <a:xfrm>
            <a:off x="457200" y="471367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79B2D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" name="Google Shape;93;p28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Diagramme">
  <p:cSld name="2 Diagramm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9"/>
          <p:cNvSpPr txBox="1"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" name="Google Shape;96;p29"/>
          <p:cNvSpPr txBox="1">
            <a:spLocks noGrp="1"/>
          </p:cNvSpPr>
          <p:nvPr>
            <p:ph type="body" idx="1"/>
          </p:nvPr>
        </p:nvSpPr>
        <p:spPr>
          <a:xfrm>
            <a:off x="457200" y="4368811"/>
            <a:ext cx="3962400" cy="33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9"/>
          <p:cNvSpPr>
            <a:spLocks noGrp="1"/>
          </p:cNvSpPr>
          <p:nvPr>
            <p:ph type="chart" idx="2"/>
          </p:nvPr>
        </p:nvSpPr>
        <p:spPr>
          <a:xfrm>
            <a:off x="457200" y="1181092"/>
            <a:ext cx="3962400" cy="3086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body" idx="3"/>
          </p:nvPr>
        </p:nvSpPr>
        <p:spPr>
          <a:xfrm>
            <a:off x="4714875" y="4368811"/>
            <a:ext cx="3962400" cy="33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29"/>
          <p:cNvSpPr>
            <a:spLocks noGrp="1"/>
          </p:cNvSpPr>
          <p:nvPr>
            <p:ph type="chart" idx="4"/>
          </p:nvPr>
        </p:nvSpPr>
        <p:spPr>
          <a:xfrm>
            <a:off x="4714875" y="1181092"/>
            <a:ext cx="3962400" cy="3086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0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457200" y="1063625"/>
            <a:ext cx="822960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51;p16"/>
          <p:cNvCxnSpPr/>
          <p:nvPr/>
        </p:nvCxnSpPr>
        <p:spPr>
          <a:xfrm>
            <a:off x="0" y="155575"/>
            <a:ext cx="457200" cy="0"/>
          </a:xfrm>
          <a:prstGeom prst="straightConnector1">
            <a:avLst/>
          </a:prstGeom>
          <a:noFill/>
          <a:ln w="9525" cap="flat" cmpd="sng">
            <a:solidFill>
              <a:srgbClr val="262A3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2" name="Google Shape;52;p1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7200" y="4769366"/>
            <a:ext cx="547323" cy="32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" name="Google Shape;53;p16"/>
          <p:cNvCxnSpPr/>
          <p:nvPr/>
        </p:nvCxnSpPr>
        <p:spPr>
          <a:xfrm>
            <a:off x="457200" y="471367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79B2D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16"/>
          <p:cNvSpPr txBox="1"/>
          <p:nvPr/>
        </p:nvSpPr>
        <p:spPr>
          <a:xfrm>
            <a:off x="1154545" y="4805187"/>
            <a:ext cx="6785496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Institut für Medizinische Informatik, Statistik und Epidemiologie (IMISE)</a:t>
            </a:r>
            <a:endParaRPr/>
          </a:p>
        </p:txBody>
      </p:sp>
      <p:sp>
        <p:nvSpPr>
          <p:cNvPr id="55" name="Google Shape;55;p16"/>
          <p:cNvSpPr txBox="1"/>
          <p:nvPr/>
        </p:nvSpPr>
        <p:spPr>
          <a:xfrm>
            <a:off x="457200" y="22671"/>
            <a:ext cx="73023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ARX ALS ANONYMISIERUNGSWERKZEUG </a:t>
            </a:r>
            <a:r>
              <a:rPr lang="de-D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Informationsmanagement in der klinischen Forschung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MISE/MI-Lab-E03-Privacy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>
            <a:spLocks noGrp="1"/>
          </p:cNvSpPr>
          <p:nvPr>
            <p:ph type="ctrTitle"/>
          </p:nvPr>
        </p:nvSpPr>
        <p:spPr>
          <a:xfrm>
            <a:off x="295275" y="2079625"/>
            <a:ext cx="8093075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/>
              <a:t>MI-Lab Exercise: ARX as an anonymization tool</a:t>
            </a:r>
            <a:endParaRPr dirty="0"/>
          </a:p>
        </p:txBody>
      </p:sp>
      <p:sp>
        <p:nvSpPr>
          <p:cNvPr id="106" name="Google Shape;106;p1"/>
          <p:cNvSpPr txBox="1">
            <a:spLocks noGrp="1"/>
          </p:cNvSpPr>
          <p:nvPr>
            <p:ph type="subTitle" idx="1"/>
          </p:nvPr>
        </p:nvSpPr>
        <p:spPr>
          <a:xfrm>
            <a:off x="295275" y="1606550"/>
            <a:ext cx="6400800" cy="47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de-DE" dirty="0"/>
              <a:t>Information </a:t>
            </a:r>
            <a:r>
              <a:rPr lang="de-DE" dirty="0" err="1"/>
              <a:t>management</a:t>
            </a:r>
            <a:r>
              <a:rPr lang="de-DE" dirty="0"/>
              <a:t> in </a:t>
            </a:r>
            <a:r>
              <a:rPr lang="de-DE" dirty="0" err="1"/>
              <a:t>clinical</a:t>
            </a:r>
            <a:r>
              <a:rPr lang="de-DE" dirty="0"/>
              <a:t> </a:t>
            </a:r>
            <a:r>
              <a:rPr lang="de-DE" dirty="0" err="1"/>
              <a:t>research</a:t>
            </a:r>
            <a:endParaRPr dirty="0"/>
          </a:p>
        </p:txBody>
      </p:sp>
      <p:sp>
        <p:nvSpPr>
          <p:cNvPr id="107" name="Google Shape;107;p1"/>
          <p:cNvSpPr>
            <a:spLocks noGrp="1"/>
          </p:cNvSpPr>
          <p:nvPr>
            <p:ph type="pic" idx="3"/>
          </p:nvPr>
        </p:nvSpPr>
        <p:spPr>
          <a:xfrm>
            <a:off x="2473325" y="4438650"/>
            <a:ext cx="2044700" cy="5175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8" name="Google Shape;108;p1"/>
          <p:cNvSpPr txBox="1">
            <a:spLocks noGrp="1"/>
          </p:cNvSpPr>
          <p:nvPr>
            <p:ph type="body" idx="4294967295"/>
          </p:nvPr>
        </p:nvSpPr>
        <p:spPr>
          <a:xfrm>
            <a:off x="295275" y="3600450"/>
            <a:ext cx="3744913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latin typeface="Arial"/>
                <a:ea typeface="Arial"/>
                <a:cs typeface="Arial"/>
                <a:sym typeface="Arial"/>
              </a:rPr>
              <a:t>Leipzig, Datum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" name="Google Shape;109;p1" descr="Ein Bild, das Schrift, Grafiken, Logo, Design enthält.&#10;&#10;Automatisch generierte Beschreibu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554" b="1554"/>
          <a:stretch/>
        </p:blipFill>
        <p:spPr>
          <a:xfrm>
            <a:off x="295687" y="4439286"/>
            <a:ext cx="2098597" cy="51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DISCLAIMER</a:t>
            </a:r>
            <a:endParaRPr/>
          </a:p>
        </p:txBody>
      </p:sp>
      <p:sp>
        <p:nvSpPr>
          <p:cNvPr id="115" name="Google Shape;115;p2"/>
          <p:cNvSpPr txBox="1">
            <a:spLocks noGrp="1"/>
          </p:cNvSpPr>
          <p:nvPr>
            <p:ph type="body"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9875" lvl="0" indent="-269875">
              <a:spcBef>
                <a:spcPts val="0"/>
              </a:spcBef>
            </a:pPr>
            <a:r>
              <a:rPr lang="en-US" dirty="0"/>
              <a:t>The exercise is largely based on a presentation of the functionalities of ARX by (then) Dr. Fabian Prasser from the </a:t>
            </a:r>
            <a:br>
              <a:rPr lang="en-US" dirty="0"/>
            </a:br>
            <a:r>
              <a:rPr lang="en-US" dirty="0"/>
              <a:t>Institute for Medical Statistics and Epidemiology, Technical University of Munich</a:t>
            </a:r>
          </a:p>
          <a:p>
            <a:pPr marL="269875" lvl="0" indent="-269875">
              <a:spcBef>
                <a:spcPts val="0"/>
              </a:spcBef>
            </a:pPr>
            <a:endParaRPr dirty="0"/>
          </a:p>
          <a:p>
            <a:pPr marL="269875" lvl="0" indent="-269875"/>
            <a:r>
              <a:rPr lang="de-DE" dirty="0"/>
              <a:t>The </a:t>
            </a:r>
            <a:r>
              <a:rPr lang="de-DE" dirty="0" err="1"/>
              <a:t>rights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content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held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TMF Technologie und Methodenplattform für die vernetzte medizinische Forschung e.V. Berlin</a:t>
            </a:r>
          </a:p>
          <a:p>
            <a:pPr marL="269875" lvl="0" indent="-269875"/>
            <a:endParaRPr dirty="0"/>
          </a:p>
          <a:p>
            <a:pPr marL="269875" lvl="0" indent="-269875"/>
            <a:r>
              <a:rPr lang="en-US" dirty="0"/>
              <a:t>No further distribution without the permission of the above entities!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CONTENTS</a:t>
            </a:r>
            <a:endParaRPr dirty="0"/>
          </a:p>
        </p:txBody>
      </p:sp>
      <p:sp>
        <p:nvSpPr>
          <p:cNvPr id="121" name="Google Shape;121;p3"/>
          <p:cNvSpPr txBox="1">
            <a:spLocks noGrp="1"/>
          </p:cNvSpPr>
          <p:nvPr>
            <p:ph type="body"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de-DE" b="1" dirty="0" err="1"/>
              <a:t>Preparation</a:t>
            </a:r>
            <a:endParaRPr dirty="0"/>
          </a:p>
          <a:p>
            <a:pPr marL="269875" lvl="0" indent="-269875"/>
            <a:r>
              <a:rPr lang="de-DE" dirty="0" err="1"/>
              <a:t>Introduction</a:t>
            </a:r>
            <a:r>
              <a:rPr lang="de-DE" dirty="0"/>
              <a:t> and </a:t>
            </a:r>
            <a:r>
              <a:rPr lang="de-DE" dirty="0" err="1"/>
              <a:t>installation</a:t>
            </a:r>
            <a:endParaRPr lang="de-DE" dirty="0"/>
          </a:p>
          <a:p>
            <a:pPr marL="0" lvl="0" indent="0">
              <a:buNone/>
            </a:pPr>
            <a:r>
              <a:rPr lang="de-DE" b="1" dirty="0"/>
              <a:t>Basic </a:t>
            </a:r>
            <a:r>
              <a:rPr lang="de-DE" b="1" dirty="0" err="1"/>
              <a:t>functionalities</a:t>
            </a:r>
            <a:endParaRPr dirty="0"/>
          </a:p>
          <a:p>
            <a:pPr marL="269875" lvl="0" indent="-269875" algn="l" rtl="0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en-US" dirty="0"/>
              <a:t>Task 1: Protection against re-identification with k anonymity</a:t>
            </a:r>
          </a:p>
          <a:p>
            <a:pPr marL="269875" lvl="0" indent="-269875" algn="l" rtl="0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en-US" dirty="0"/>
              <a:t>Task 2: Demonstrating the optimal transformation and finding the second-best solution</a:t>
            </a:r>
          </a:p>
          <a:p>
            <a:pPr marL="269875" lvl="0" indent="-269875" algn="l" rtl="0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en-US" dirty="0"/>
              <a:t>Task 3: Comparing identification risks before/after transformation</a:t>
            </a:r>
          </a:p>
          <a:p>
            <a:pPr marL="269875" lvl="0" indent="-269875" algn="l" rtl="0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en-US" dirty="0"/>
              <a:t>Task 4: Creating your own generalization hierarchy</a:t>
            </a:r>
          </a:p>
          <a:p>
            <a:pPr marL="269875" lvl="0" indent="-269875" algn="l" rtl="0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en-US" dirty="0"/>
              <a:t>Task 5: Effect of the generalization hierarchy on the distribution of individual features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22" name="Google Shape;122;p3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CONTENTS</a:t>
            </a:r>
            <a:endParaRPr dirty="0"/>
          </a:p>
        </p:txBody>
      </p:sp>
      <p:sp>
        <p:nvSpPr>
          <p:cNvPr id="128" name="Google Shape;128;p4"/>
          <p:cNvSpPr txBox="1">
            <a:spLocks noGrp="1"/>
          </p:cNvSpPr>
          <p:nvPr>
            <p:ph type="body"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de-DE" b="1" dirty="0"/>
              <a:t>Transformation </a:t>
            </a:r>
            <a:r>
              <a:rPr lang="de-DE" b="1" dirty="0" err="1"/>
              <a:t>models</a:t>
            </a:r>
            <a:endParaRPr lang="de-DE" b="1" dirty="0"/>
          </a:p>
          <a:p>
            <a:pPr marL="285750" indent="-285750">
              <a:spcBef>
                <a:spcPts val="0"/>
              </a:spcBef>
            </a:pPr>
            <a:r>
              <a:rPr lang="en-US" dirty="0"/>
              <a:t>Task 6: Impact of suppression</a:t>
            </a:r>
          </a:p>
          <a:p>
            <a:pPr marL="285750" indent="-285750">
              <a:spcBef>
                <a:spcPts val="0"/>
              </a:spcBef>
            </a:pPr>
            <a:r>
              <a:rPr lang="en-US" dirty="0"/>
              <a:t>Task 7: Effect of </a:t>
            </a:r>
            <a:r>
              <a:rPr lang="en-US" dirty="0" err="1"/>
              <a:t>microaggregation</a:t>
            </a:r>
            <a:endParaRPr lang="en-US" dirty="0"/>
          </a:p>
        </p:txBody>
      </p:sp>
      <p:sp>
        <p:nvSpPr>
          <p:cNvPr id="129" name="Google Shape;129;p4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INTRODUCTION</a:t>
            </a:r>
            <a:endParaRPr dirty="0"/>
          </a:p>
        </p:txBody>
      </p:sp>
      <p:sp>
        <p:nvSpPr>
          <p:cNvPr id="135" name="Google Shape;135;p5"/>
          <p:cNvSpPr txBox="1">
            <a:spLocks noGrp="1"/>
          </p:cNvSpPr>
          <p:nvPr>
            <p:ph type="body"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 dirty="0"/>
              <a:t>Task</a:t>
            </a:r>
          </a:p>
          <a:p>
            <a:pPr marL="285750" indent="-285750">
              <a:spcBef>
                <a:spcPts val="0"/>
              </a:spcBef>
            </a:pPr>
            <a:r>
              <a:rPr lang="en-US" dirty="0"/>
              <a:t>Create an ARX project file for a given data set.</a:t>
            </a:r>
          </a:p>
          <a:p>
            <a:pPr marL="269875" lvl="0" indent="-155575" algn="l" rtl="0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None/>
            </a:pPr>
            <a:endParaRPr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de-DE" b="1" dirty="0"/>
              <a:t>Files</a:t>
            </a:r>
            <a:endParaRPr dirty="0"/>
          </a:p>
          <a:p>
            <a:pPr marL="269875" lvl="0" indent="-269875" algn="l" rtl="0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 dirty="0"/>
              <a:t>Input </a:t>
            </a:r>
            <a:r>
              <a:rPr lang="de-DE" dirty="0" err="1"/>
              <a:t>data</a:t>
            </a:r>
            <a:endParaRPr dirty="0"/>
          </a:p>
          <a:p>
            <a:pPr marL="714375" lvl="1" indent="-257175" algn="l" rtl="0">
              <a:spcBef>
                <a:spcPts val="320"/>
              </a:spcBef>
              <a:spcAft>
                <a:spcPts val="0"/>
              </a:spcAft>
              <a:buSzPts val="1600"/>
              <a:buChar char="−"/>
            </a:pPr>
            <a:r>
              <a:rPr lang="de-DE" dirty="0"/>
              <a:t>MIMIC Ü3 full.csv</a:t>
            </a:r>
            <a:endParaRPr dirty="0"/>
          </a:p>
          <a:p>
            <a:pPr marL="269875" lvl="0" indent="-269875" algn="l" rtl="0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 dirty="0" err="1"/>
              <a:t>Hierachies</a:t>
            </a:r>
            <a:endParaRPr dirty="0"/>
          </a:p>
          <a:p>
            <a:pPr marL="714375" lvl="1" indent="-257175" algn="l" rtl="0">
              <a:spcBef>
                <a:spcPts val="320"/>
              </a:spcBef>
              <a:spcAft>
                <a:spcPts val="0"/>
              </a:spcAft>
              <a:buSzPts val="1600"/>
              <a:buChar char="−"/>
            </a:pPr>
            <a:r>
              <a:rPr lang="de-DE" dirty="0"/>
              <a:t>Age.csv, insurance.csv, language.csv, martial-status.csv, race.csv, weight.csv</a:t>
            </a:r>
            <a:endParaRPr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36" name="Google Shape;136;p5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CREATE PROJET</a:t>
            </a:r>
            <a:endParaRPr dirty="0"/>
          </a:p>
        </p:txBody>
      </p:sp>
      <p:sp>
        <p:nvSpPr>
          <p:cNvPr id="142" name="Google Shape;142;p6"/>
          <p:cNvSpPr txBox="1">
            <a:spLocks noGrp="1"/>
          </p:cNvSpPr>
          <p:nvPr>
            <p:ph type="body"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9875" lvl="0" indent="-269875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 dirty="0"/>
              <a:t>Open ARX and </a:t>
            </a:r>
            <a:r>
              <a:rPr lang="de-DE" dirty="0" err="1"/>
              <a:t>select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menu</a:t>
            </a:r>
            <a:r>
              <a:rPr lang="de-DE" dirty="0"/>
              <a:t> 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de-DE" dirty="0"/>
              <a:t>	„File“ → „New </a:t>
            </a:r>
            <a:r>
              <a:rPr lang="de-DE" dirty="0" err="1"/>
              <a:t>project</a:t>
            </a:r>
            <a:r>
              <a:rPr lang="de-DE" dirty="0"/>
              <a:t>…“</a:t>
            </a:r>
          </a:p>
          <a:p>
            <a:pPr marL="269875" lvl="0" indent="-269875" algn="l" rtl="0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 dirty="0"/>
              <a:t>Enter a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name</a:t>
            </a:r>
            <a:r>
              <a:rPr lang="de-DE" dirty="0"/>
              <a:t> and </a:t>
            </a:r>
            <a:r>
              <a:rPr lang="de-DE" dirty="0" err="1"/>
              <a:t>click</a:t>
            </a:r>
            <a:r>
              <a:rPr lang="de-DE" dirty="0"/>
              <a:t> “OK”</a:t>
            </a:r>
          </a:p>
        </p:txBody>
      </p:sp>
      <p:sp>
        <p:nvSpPr>
          <p:cNvPr id="143" name="Google Shape;143;p6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8109" y="2335740"/>
            <a:ext cx="4227781" cy="226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>
            <a:spLocks noGrp="1"/>
          </p:cNvSpPr>
          <p:nvPr>
            <p:ph type="title"/>
          </p:nvPr>
        </p:nvSpPr>
        <p:spPr>
          <a:xfrm>
            <a:off x="457199" y="372533"/>
            <a:ext cx="4323229" cy="99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IMPORT DATA (1)</a:t>
            </a:r>
            <a:endParaRPr dirty="0"/>
          </a:p>
        </p:txBody>
      </p:sp>
      <p:sp>
        <p:nvSpPr>
          <p:cNvPr id="150" name="Google Shape;150;p7"/>
          <p:cNvSpPr txBox="1">
            <a:spLocks noGrp="1"/>
          </p:cNvSpPr>
          <p:nvPr>
            <p:ph type="body" idx="1"/>
          </p:nvPr>
        </p:nvSpPr>
        <p:spPr>
          <a:xfrm>
            <a:off x="457200" y="1503680"/>
            <a:ext cx="2692400" cy="3195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en-US" dirty="0"/>
              <a:t>Select "File" → "Import data" from the application menu.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en-US" dirty="0"/>
              <a:t>Select "CSV" and click "Next."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en-US" dirty="0"/>
              <a:t>Select "Browse..." and select the file "MIMIC Ü3.csv"</a:t>
            </a:r>
          </a:p>
        </p:txBody>
      </p:sp>
      <p:pic>
        <p:nvPicPr>
          <p:cNvPr id="151" name="Google Shape;151;p7" descr="Ein Bild, das Text, Screenshot, Software, Computersymbol enthält.&#10;&#10;Automatisch generierte Beschreibu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6588" y="1371600"/>
            <a:ext cx="4960046" cy="276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 txBox="1">
            <a:spLocks noGrp="1"/>
          </p:cNvSpPr>
          <p:nvPr>
            <p:ph type="body" idx="3"/>
          </p:nvPr>
        </p:nvSpPr>
        <p:spPr>
          <a:xfrm>
            <a:off x="3352800" y="4368811"/>
            <a:ext cx="5334000" cy="33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</a:pPr>
            <a:endParaRPr/>
          </a:p>
        </p:txBody>
      </p:sp>
      <p:sp>
        <p:nvSpPr>
          <p:cNvPr id="153" name="Google Shape;153;p7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Calibri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</a:rPr>
              <a:t>7</a:t>
            </a:fld>
            <a:endParaRPr sz="1000">
              <a:solidFill>
                <a:srgbClr val="D8413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>
            <a:spLocks noGrp="1"/>
          </p:cNvSpPr>
          <p:nvPr>
            <p:ph type="title"/>
          </p:nvPr>
        </p:nvSpPr>
        <p:spPr>
          <a:xfrm>
            <a:off x="457199" y="372533"/>
            <a:ext cx="3425543" cy="99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IMPORT DATA (2)</a:t>
            </a:r>
            <a:endParaRPr dirty="0"/>
          </a:p>
        </p:txBody>
      </p:sp>
      <p:sp>
        <p:nvSpPr>
          <p:cNvPr id="159" name="Google Shape;159;p8"/>
          <p:cNvSpPr txBox="1">
            <a:spLocks noGrp="1"/>
          </p:cNvSpPr>
          <p:nvPr>
            <p:ph type="body" idx="1"/>
          </p:nvPr>
        </p:nvSpPr>
        <p:spPr>
          <a:xfrm>
            <a:off x="457199" y="1503680"/>
            <a:ext cx="3045759" cy="3195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>
              <a:spcBef>
                <a:spcPts val="0"/>
              </a:spcBef>
            </a:pPr>
            <a:r>
              <a:rPr lang="en-US" dirty="0"/>
              <a:t>The syntax of the file is recognized automatically.</a:t>
            </a:r>
            <a:endParaRPr dirty="0"/>
          </a:p>
        </p:txBody>
      </p:sp>
      <p:pic>
        <p:nvPicPr>
          <p:cNvPr id="160" name="Google Shape;16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2743" y="762000"/>
            <a:ext cx="4731314" cy="348934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 txBox="1">
            <a:spLocks noGrp="1"/>
          </p:cNvSpPr>
          <p:nvPr>
            <p:ph type="body" idx="3"/>
          </p:nvPr>
        </p:nvSpPr>
        <p:spPr>
          <a:xfrm>
            <a:off x="3352800" y="4368811"/>
            <a:ext cx="5334000" cy="33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</a:pPr>
            <a:endParaRPr/>
          </a:p>
        </p:txBody>
      </p:sp>
      <p:sp>
        <p:nvSpPr>
          <p:cNvPr id="162" name="Google Shape;162;p8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Calibri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</a:rPr>
              <a:t>8</a:t>
            </a:fld>
            <a:endParaRPr sz="1000">
              <a:solidFill>
                <a:srgbClr val="D8413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>
            <a:spLocks noGrp="1"/>
          </p:cNvSpPr>
          <p:nvPr>
            <p:ph type="title"/>
          </p:nvPr>
        </p:nvSpPr>
        <p:spPr>
          <a:xfrm>
            <a:off x="457199" y="372533"/>
            <a:ext cx="3136605" cy="99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CONFIGURE INPUT FILE</a:t>
            </a:r>
            <a:endParaRPr dirty="0"/>
          </a:p>
        </p:txBody>
      </p:sp>
      <p:sp>
        <p:nvSpPr>
          <p:cNvPr id="168" name="Google Shape;168;p9"/>
          <p:cNvSpPr txBox="1">
            <a:spLocks noGrp="1"/>
          </p:cNvSpPr>
          <p:nvPr>
            <p:ph type="body" idx="1"/>
          </p:nvPr>
        </p:nvSpPr>
        <p:spPr>
          <a:xfrm>
            <a:off x="457200" y="1503680"/>
            <a:ext cx="2692400" cy="3195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en-US" dirty="0"/>
              <a:t>In the following dialog, you can configure the input file</a:t>
            </a:r>
          </a:p>
          <a:p>
            <a:pPr marL="171450" lvl="0" indent="-57150" algn="l" rtl="0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None/>
            </a:pPr>
            <a:endParaRPr dirty="0"/>
          </a:p>
        </p:txBody>
      </p:sp>
      <p:pic>
        <p:nvPicPr>
          <p:cNvPr id="169" name="Google Shape;16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73238" y="762000"/>
            <a:ext cx="5150324" cy="348934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9"/>
          <p:cNvSpPr txBox="1">
            <a:spLocks noGrp="1"/>
          </p:cNvSpPr>
          <p:nvPr>
            <p:ph type="body" idx="3"/>
          </p:nvPr>
        </p:nvSpPr>
        <p:spPr>
          <a:xfrm>
            <a:off x="3352800" y="4368811"/>
            <a:ext cx="5334000" cy="33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</a:pPr>
            <a:endParaRPr/>
          </a:p>
        </p:txBody>
      </p:sp>
      <p:sp>
        <p:nvSpPr>
          <p:cNvPr id="171" name="Google Shape;171;p9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Calibri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</a:rPr>
              <a:t>9</a:t>
            </a:fld>
            <a:endParaRPr sz="1000">
              <a:solidFill>
                <a:srgbClr val="D8413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>
            <a:spLocks noGrp="1"/>
          </p:cNvSpPr>
          <p:nvPr>
            <p:ph type="title"/>
          </p:nvPr>
        </p:nvSpPr>
        <p:spPr>
          <a:xfrm>
            <a:off x="457200" y="372533"/>
            <a:ext cx="2692400" cy="99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PREVIEW</a:t>
            </a:r>
            <a:endParaRPr dirty="0"/>
          </a:p>
        </p:txBody>
      </p:sp>
      <p:sp>
        <p:nvSpPr>
          <p:cNvPr id="177" name="Google Shape;177;p10"/>
          <p:cNvSpPr txBox="1">
            <a:spLocks noGrp="1"/>
          </p:cNvSpPr>
          <p:nvPr>
            <p:ph type="body" idx="1"/>
          </p:nvPr>
        </p:nvSpPr>
        <p:spPr>
          <a:xfrm>
            <a:off x="457200" y="1503680"/>
            <a:ext cx="2692400" cy="3195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en-US" dirty="0"/>
              <a:t>An overview of the data set appears</a:t>
            </a:r>
            <a:endParaRPr dirty="0"/>
          </a:p>
        </p:txBody>
      </p:sp>
      <p:pic>
        <p:nvPicPr>
          <p:cNvPr id="178" name="Google Shape;178;p1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-6121" r="-6122"/>
          <a:stretch/>
        </p:blipFill>
        <p:spPr>
          <a:xfrm>
            <a:off x="3352800" y="762000"/>
            <a:ext cx="5687302" cy="342674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0"/>
          <p:cNvSpPr txBox="1">
            <a:spLocks noGrp="1"/>
          </p:cNvSpPr>
          <p:nvPr>
            <p:ph type="body" idx="3"/>
          </p:nvPr>
        </p:nvSpPr>
        <p:spPr>
          <a:xfrm>
            <a:off x="3352800" y="4368811"/>
            <a:ext cx="5334000" cy="33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</a:pPr>
            <a:endParaRPr/>
          </a:p>
        </p:txBody>
      </p:sp>
      <p:sp>
        <p:nvSpPr>
          <p:cNvPr id="180" name="Google Shape;180;p10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ARX GUI</a:t>
            </a:r>
            <a:endParaRPr/>
          </a:p>
        </p:txBody>
      </p:sp>
      <p:sp>
        <p:nvSpPr>
          <p:cNvPr id="186" name="Google Shape;186;p11"/>
          <p:cNvSpPr txBox="1">
            <a:spLocks noGrp="1"/>
          </p:cNvSpPr>
          <p:nvPr>
            <p:ph type="body"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9875" lvl="0" indent="-269875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en-US" dirty="0"/>
              <a:t>Click on the attributes (columns) and change the type</a:t>
            </a:r>
          </a:p>
        </p:txBody>
      </p:sp>
      <p:sp>
        <p:nvSpPr>
          <p:cNvPr id="187" name="Google Shape;187;p11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5006" y="1591382"/>
            <a:ext cx="5521842" cy="3552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de-DE" dirty="0"/>
              <a:t>IMPORTING HIERARCHIES</a:t>
            </a:r>
            <a:endParaRPr lang="de-DE" dirty="0">
              <a:effectLst/>
            </a:endParaRPr>
          </a:p>
        </p:txBody>
      </p:sp>
      <p:sp>
        <p:nvSpPr>
          <p:cNvPr id="194" name="Google Shape;194;p12"/>
          <p:cNvSpPr txBox="1">
            <a:spLocks noGrp="1"/>
          </p:cNvSpPr>
          <p:nvPr>
            <p:ph type="body"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9875" lvl="0" indent="-269875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 dirty="0"/>
              <a:t>„File“ → „Import </a:t>
            </a:r>
            <a:r>
              <a:rPr lang="de-DE" dirty="0" err="1"/>
              <a:t>hierarchy</a:t>
            </a:r>
            <a:r>
              <a:rPr lang="de-DE" dirty="0"/>
              <a:t> ...“ </a:t>
            </a:r>
            <a:r>
              <a:rPr lang="de-DE" dirty="0" err="1"/>
              <a:t>for</a:t>
            </a:r>
            <a:r>
              <a:rPr lang="de-DE" dirty="0"/>
              <a:t> all </a:t>
            </a:r>
            <a:r>
              <a:rPr lang="de-DE" dirty="0" err="1"/>
              <a:t>attributes</a:t>
            </a:r>
            <a:endParaRPr dirty="0"/>
          </a:p>
        </p:txBody>
      </p:sp>
      <p:sp>
        <p:nvSpPr>
          <p:cNvPr id="195" name="Google Shape;195;p12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9814" y="1564024"/>
            <a:ext cx="5564371" cy="357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b12c1389a_0_0"/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400" cy="7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de-DE" dirty="0"/>
              <a:t>TASKS (SEE EXERCISE SHEET)</a:t>
            </a:r>
            <a:endParaRPr lang="de-DE" dirty="0">
              <a:effectLst/>
            </a:endParaRPr>
          </a:p>
        </p:txBody>
      </p:sp>
      <p:sp>
        <p:nvSpPr>
          <p:cNvPr id="203" name="Google Shape;203;g32b12c1389a_0_0"/>
          <p:cNvSpPr txBox="1">
            <a:spLocks noGrp="1"/>
          </p:cNvSpPr>
          <p:nvPr>
            <p:ph type="body" idx="1"/>
          </p:nvPr>
        </p:nvSpPr>
        <p:spPr>
          <a:xfrm>
            <a:off x="457200" y="1223500"/>
            <a:ext cx="4114800" cy="3379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de-DE" dirty="0" err="1"/>
              <a:t>Exercise</a:t>
            </a:r>
            <a:r>
              <a:rPr lang="de-DE" dirty="0"/>
              <a:t> </a:t>
            </a:r>
            <a:r>
              <a:rPr lang="de-DE" dirty="0" err="1"/>
              <a:t>sheet</a:t>
            </a:r>
            <a:r>
              <a:rPr lang="de-DE" dirty="0"/>
              <a:t> in </a:t>
            </a:r>
            <a:r>
              <a:rPr lang="de-DE" b="1" dirty="0"/>
              <a:t>GitHub</a:t>
            </a:r>
            <a:r>
              <a:rPr lang="de-DE" dirty="0"/>
              <a:t>:</a:t>
            </a:r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de-DE" u="sng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https://github.com/IMISE/MI-Lab-E03-Privacy</a:t>
            </a:r>
            <a:endParaRPr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>
              <a:solidFill>
                <a:schemeClr val="accent2"/>
              </a:solidFill>
            </a:endParaRPr>
          </a:p>
          <a:p>
            <a: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➔"/>
            </a:pPr>
            <a:r>
              <a:rPr lang="de-DE" dirty="0"/>
              <a:t>Under /</a:t>
            </a:r>
            <a:r>
              <a:rPr lang="de-DE" dirty="0" err="1"/>
              <a:t>Exercise</a:t>
            </a:r>
            <a:r>
              <a:rPr lang="de-DE" dirty="0"/>
              <a:t>/Exercise_sheet_en.pdf</a:t>
            </a:r>
            <a:endParaRPr dirty="0"/>
          </a:p>
          <a:p>
            <a:pPr marL="457200" lvl="0" indent="45720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4" name="Google Shape;204;g32b12c1389a_0_0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3100" cy="20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13</a:t>
            </a:fld>
            <a:endParaRPr/>
          </a:p>
        </p:txBody>
      </p:sp>
      <p:pic>
        <p:nvPicPr>
          <p:cNvPr id="205" name="Google Shape;205;g32b12c1389a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9300" y="1002773"/>
            <a:ext cx="3742424" cy="365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>
            <a:spLocks noGrp="1"/>
          </p:cNvSpPr>
          <p:nvPr>
            <p:ph type="ctrTitle"/>
          </p:nvPr>
        </p:nvSpPr>
        <p:spPr>
          <a:xfrm>
            <a:off x="365125" y="1584325"/>
            <a:ext cx="79851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THANK YOU!</a:t>
            </a:r>
            <a:endParaRPr dirty="0"/>
          </a:p>
        </p:txBody>
      </p:sp>
      <p:sp>
        <p:nvSpPr>
          <p:cNvPr id="211" name="Google Shape;211;p13"/>
          <p:cNvSpPr txBox="1">
            <a:spLocks noGrp="1"/>
          </p:cNvSpPr>
          <p:nvPr>
            <p:ph type="body" idx="1"/>
          </p:nvPr>
        </p:nvSpPr>
        <p:spPr>
          <a:xfrm>
            <a:off x="365125" y="2449513"/>
            <a:ext cx="6924675" cy="245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de-DE" sz="1600" b="1">
                <a:latin typeface="Arial"/>
                <a:ea typeface="Arial"/>
                <a:cs typeface="Arial"/>
                <a:sym typeface="Arial"/>
              </a:rPr>
              <a:t>Mona Perbix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de-DE" sz="1600">
                <a:latin typeface="Arial"/>
                <a:ea typeface="Arial"/>
                <a:cs typeface="Arial"/>
                <a:sym typeface="Arial"/>
              </a:rPr>
              <a:t>Institut für Medizinische Informatik, Statistik und Epidemiologie (IMISE)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de-DE" sz="1600">
                <a:latin typeface="Arial"/>
                <a:ea typeface="Arial"/>
                <a:cs typeface="Arial"/>
                <a:sym typeface="Arial"/>
              </a:rPr>
              <a:t>www.imise.uni-leipzig.de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18-09-13-Vorlage 16 zu 9 - MF">
  <a:themeElements>
    <a:clrScheme name="mf">
      <a:dk1>
        <a:srgbClr val="000000"/>
      </a:dk1>
      <a:lt1>
        <a:srgbClr val="FFFFFF"/>
      </a:lt1>
      <a:dk2>
        <a:srgbClr val="262A31"/>
      </a:dk2>
      <a:lt2>
        <a:srgbClr val="E7E6E6"/>
      </a:lt2>
      <a:accent1>
        <a:srgbClr val="008AC9"/>
      </a:accent1>
      <a:accent2>
        <a:srgbClr val="00A7D6"/>
      </a:accent2>
      <a:accent3>
        <a:srgbClr val="FF5451"/>
      </a:accent3>
      <a:accent4>
        <a:srgbClr val="8AC2D1"/>
      </a:accent4>
      <a:accent5>
        <a:srgbClr val="262A31"/>
      </a:accent5>
      <a:accent6>
        <a:srgbClr val="FFFFFF"/>
      </a:accent6>
      <a:hlink>
        <a:srgbClr val="8AC2D1"/>
      </a:hlink>
      <a:folHlink>
        <a:srgbClr val="B02F2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ster2_UniLeipzig_PPT Vorlage">
  <a:themeElements>
    <a:clrScheme name="MF 2018">
      <a:dk1>
        <a:srgbClr val="000000"/>
      </a:dk1>
      <a:lt1>
        <a:srgbClr val="FFFFFF"/>
      </a:lt1>
      <a:dk2>
        <a:srgbClr val="262A31"/>
      </a:dk2>
      <a:lt2>
        <a:srgbClr val="FFFFFF"/>
      </a:lt2>
      <a:accent1>
        <a:srgbClr val="008AC9"/>
      </a:accent1>
      <a:accent2>
        <a:srgbClr val="00A7D6"/>
      </a:accent2>
      <a:accent3>
        <a:srgbClr val="8AC2D1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8A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Office PowerPoint</Application>
  <PresentationFormat>Bildschirmpräsentation (16:9)</PresentationFormat>
  <Paragraphs>70</Paragraphs>
  <Slides>14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Calibri</vt:lpstr>
      <vt:lpstr>Poppins</vt:lpstr>
      <vt:lpstr>Arial</vt:lpstr>
      <vt:lpstr>Noto Sans Symbols</vt:lpstr>
      <vt:lpstr>2018-09-13-Vorlage 16 zu 9 - MF</vt:lpstr>
      <vt:lpstr>Master2_UniLeipzig_PPT Vorlage</vt:lpstr>
      <vt:lpstr>MI-Lab Exercise: ARX as an anonymization tool</vt:lpstr>
      <vt:lpstr>DISCLAIMER</vt:lpstr>
      <vt:lpstr>CONTENTS</vt:lpstr>
      <vt:lpstr>CONTENTS</vt:lpstr>
      <vt:lpstr>INTRODUCTION</vt:lpstr>
      <vt:lpstr>CREATE PROJET</vt:lpstr>
      <vt:lpstr>IMPORT DATA (1)</vt:lpstr>
      <vt:lpstr>IMPORT DATA (2)</vt:lpstr>
      <vt:lpstr>CONFIGURE INPUT FILE</vt:lpstr>
      <vt:lpstr>PREVIEW</vt:lpstr>
      <vt:lpstr>ARX GUI</vt:lpstr>
      <vt:lpstr>IMPORTING HIERARCHIES</vt:lpstr>
      <vt:lpstr>TASKS (SEE EXERCISE SHEET)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Doris Gabel</dc:creator>
  <cp:lastModifiedBy>Perbix, Mona Malin</cp:lastModifiedBy>
  <cp:revision>7</cp:revision>
  <dcterms:created xsi:type="dcterms:W3CDTF">2018-09-28T08:09:47Z</dcterms:created>
  <dcterms:modified xsi:type="dcterms:W3CDTF">2026-05-11T13:23:56Z</dcterms:modified>
</cp:coreProperties>
</file>
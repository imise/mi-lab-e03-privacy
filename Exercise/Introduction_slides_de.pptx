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FWYsrWVBTZ2+EkRm8+SPOCZqNF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ona Perbix"/>
  <p:cmAuthor clrIdx="1" id="1" initials="" lastIdx="1" name="Sebastian Stäuber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oppins-regular.fntdata"/><Relationship Id="rId21" Type="http://schemas.openxmlformats.org/officeDocument/2006/relationships/slide" Target="slides/slide14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1-20T15:16:08.436">
    <p:pos x="186" y="1310"/>
    <p:text>Einführunsfolien von Matthias Folien an MIMIC Datensatz angepasst.
@sebastian.staeubert@gmail.com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abIQG_A"/>
      </p:ext>
    </p:extLst>
  </p:cm>
  <p:cm authorId="1" idx="1" dt="2025-01-20T15:16:08.436">
    <p:pos x="186" y="1310"/>
    <p:text>Sehr gut!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b5Z9Es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b12c1389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2b12c138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2b12c1389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olumes/Daten/Uni_Leipzig/1_Corporate_Design/17_351_UniLE_MF_Aktualisierung CD-Handbuch/Grafik/Produktion/Datenvorlagen/_UniLE_MF_Marke/MF_Marke/180504_Medizinische_Fakultaet.jpg" id="13" name="Google Shape;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 txBox="1"/>
          <p:nvPr>
            <p:ph type="ctrTitle"/>
          </p:nvPr>
        </p:nvSpPr>
        <p:spPr>
          <a:xfrm>
            <a:off x="295687" y="2078847"/>
            <a:ext cx="8092705" cy="1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295687" y="1606876"/>
            <a:ext cx="6400800" cy="471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15"/>
          <p:cNvSpPr/>
          <p:nvPr>
            <p:ph idx="2" type="pic"/>
          </p:nvPr>
        </p:nvSpPr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5"/>
          <p:cNvSpPr/>
          <p:nvPr>
            <p:ph idx="3" type="pic"/>
          </p:nvPr>
        </p:nvSpPr>
        <p:spPr>
          <a:xfrm>
            <a:off x="2453698" y="4444369"/>
            <a:ext cx="2184476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5"/>
          <p:cNvSpPr/>
          <p:nvPr/>
        </p:nvSpPr>
        <p:spPr>
          <a:xfrm rot="348924">
            <a:off x="8471146" y="-38043"/>
            <a:ext cx="956809" cy="5256635"/>
          </a:xfrm>
          <a:custGeom>
            <a:rect b="b" l="l" r="r" t="t"/>
            <a:pathLst>
              <a:path extrusionOk="0" h="5245637" w="781424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cap="flat" cmpd="sng" w="9525">
            <a:solidFill>
              <a:srgbClr val="008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 flipH="1" rot="8241572">
            <a:off x="6280471" y="3669367"/>
            <a:ext cx="3546762" cy="2138528"/>
          </a:xfrm>
          <a:custGeom>
            <a:rect b="b" l="l" r="r" t="t"/>
            <a:pathLst>
              <a:path extrusionOk="0" h="2138528" w="3546762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rotWithShape="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len Dank!">
  <p:cSld name="Vielen Dank!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9"/>
          <p:cNvSpPr txBox="1"/>
          <p:nvPr>
            <p:ph type="ctrTitle"/>
          </p:nvPr>
        </p:nvSpPr>
        <p:spPr>
          <a:xfrm>
            <a:off x="365495" y="2078847"/>
            <a:ext cx="7984797" cy="562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365495" y="2834640"/>
            <a:ext cx="4672172" cy="1847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pic>
        <p:nvPicPr>
          <p:cNvPr descr="/Volumes/Daten/Uni_Leipzig/1_Corporate_Design/17_351_UniLE_MF_Aktualisierung CD-Handbuch/Grafik/Produktion/Datenvorlagen/_UniLE_MF_Marke/MF_Marke/180504_Medizinische_Fakultaet.jpg" id="24" name="Google Shape;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/>
          <p:nvPr/>
        </p:nvSpPr>
        <p:spPr>
          <a:xfrm rot="348924">
            <a:off x="8471146" y="-38043"/>
            <a:ext cx="956809" cy="5256635"/>
          </a:xfrm>
          <a:custGeom>
            <a:rect b="b" l="l" r="r" t="t"/>
            <a:pathLst>
              <a:path extrusionOk="0" h="5245637" w="781424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cap="flat" cmpd="sng" w="9525">
            <a:solidFill>
              <a:srgbClr val="008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9"/>
          <p:cNvSpPr/>
          <p:nvPr/>
        </p:nvSpPr>
        <p:spPr>
          <a:xfrm flipH="1" rot="8241572">
            <a:off x="6280471" y="3669367"/>
            <a:ext cx="3546762" cy="2138528"/>
          </a:xfrm>
          <a:custGeom>
            <a:rect b="b" l="l" r="r" t="t"/>
            <a:pathLst>
              <a:path extrusionOk="0" h="2138528" w="3546762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rotWithShape="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rechts">
  <p:cSld name="Zwischenfolie rech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3501688" y="-5922"/>
            <a:ext cx="5654316" cy="5152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442971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3" type="body"/>
          </p:nvPr>
        </p:nvSpPr>
        <p:spPr>
          <a:xfrm>
            <a:off x="511372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/>
          <p:nvPr>
            <p:ph idx="4" type="pic"/>
          </p:nvPr>
        </p:nvSpPr>
        <p:spPr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0"/>
          <p:cNvSpPr txBox="1"/>
          <p:nvPr>
            <p:ph type="title"/>
          </p:nvPr>
        </p:nvSpPr>
        <p:spPr>
          <a:xfrm>
            <a:off x="511372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links">
  <p:cSld name="Zwischenfolie link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idx="1" type="body"/>
          </p:nvPr>
        </p:nvSpPr>
        <p:spPr>
          <a:xfrm flipH="1">
            <a:off x="-14439" y="-5922"/>
            <a:ext cx="5654316" cy="5152775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2" type="body"/>
          </p:nvPr>
        </p:nvSpPr>
        <p:spPr>
          <a:xfrm flipH="1">
            <a:off x="-1443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7187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1"/>
          <p:cNvSpPr/>
          <p:nvPr>
            <p:ph idx="4" type="pic"/>
          </p:nvPr>
        </p:nvSpPr>
        <p:spPr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47187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ohne Bild">
  <p:cSld name="Zwischenfolie ohne Bild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262A3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subTitle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262A31"/>
              </a:buClr>
              <a:buSzPts val="1800"/>
              <a:buNone/>
              <a:defRPr sz="1800">
                <a:solidFill>
                  <a:srgbClr val="262A3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42" name="Google Shape;42;p22"/>
          <p:cNvCxnSpPr/>
          <p:nvPr/>
        </p:nvCxnSpPr>
        <p:spPr>
          <a:xfrm>
            <a:off x="457200" y="4713670"/>
            <a:ext cx="5731459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" name="Google Shape;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formatfüllend)">
  <p:cSld name="Bild (formatfüllend)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/>
          <p:nvPr>
            <p:ph idx="2" type="pic"/>
          </p:nvPr>
        </p:nvSpPr>
        <p:spPr>
          <a:xfrm>
            <a:off x="8468" y="8468"/>
            <a:ext cx="9135532" cy="51350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ohne Untertitel">
  <p:cSld name="Titel und Inhalt ohne Untertite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Text links">
  <p:cSld name="Bild mit Text link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3" type="body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mit Untertitel">
  <p:cSld name="Titel und Inhalt mit Untertite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4"/>
          <p:cNvSpPr txBox="1"/>
          <p:nvPr>
            <p:ph idx="2" type="body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- 2 Blöcke">
  <p:cSld name="Titel und Inhalt - 2 Blöck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3" name="Google Shape;73;p25"/>
          <p:cNvSpPr txBox="1"/>
          <p:nvPr>
            <p:ph idx="1" type="body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5"/>
          <p:cNvSpPr txBox="1"/>
          <p:nvPr>
            <p:ph idx="2" type="body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5"/>
          <p:cNvSpPr txBox="1"/>
          <p:nvPr>
            <p:ph idx="3" type="body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5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Bildunterschrift">
  <p:cSld name="Bild mit Bildunterschrif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" name="Google Shape;79;p26"/>
          <p:cNvSpPr/>
          <p:nvPr>
            <p:ph idx="2" type="pic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e">
  <p:cSld name="Tabel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" name="Google Shape;84;p27"/>
          <p:cNvSpPr txBox="1"/>
          <p:nvPr>
            <p:ph idx="1" type="body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7"/>
          <p:cNvSpPr/>
          <p:nvPr>
            <p:ph idx="2" type="tbl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7"/>
          <p:cNvSpPr txBox="1"/>
          <p:nvPr>
            <p:ph idx="3" type="body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Diagramm">
  <p:cSld name="1 Diagramm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 txBox="1"/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" name="Google Shape;90;p28"/>
          <p:cNvSpPr txBox="1"/>
          <p:nvPr>
            <p:ph idx="1" type="body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8"/>
          <p:cNvSpPr/>
          <p:nvPr>
            <p:ph idx="2" type="chart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2" name="Google Shape;92;p28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8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Diagramme">
  <p:cSld name="2 Diagramm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/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6" name="Google Shape;96;p29"/>
          <p:cNvSpPr txBox="1"/>
          <p:nvPr>
            <p:ph idx="1" type="body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9"/>
          <p:cNvSpPr/>
          <p:nvPr>
            <p:ph idx="2" type="chart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9"/>
          <p:cNvSpPr txBox="1"/>
          <p:nvPr>
            <p:ph idx="3" type="body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9"/>
          <p:cNvSpPr/>
          <p:nvPr>
            <p:ph idx="4" type="chart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9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6"/>
          <p:cNvCxnSpPr/>
          <p:nvPr/>
        </p:nvCxnSpPr>
        <p:spPr>
          <a:xfrm>
            <a:off x="0" y="155575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262A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" name="Google Shape;52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6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6"/>
          <p:cNvSpPr txBox="1"/>
          <p:nvPr/>
        </p:nvSpPr>
        <p:spPr>
          <a:xfrm>
            <a:off x="1154545" y="4805187"/>
            <a:ext cx="678549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</p:txBody>
      </p:sp>
      <p:sp>
        <p:nvSpPr>
          <p:cNvPr id="55" name="Google Shape;55;p16"/>
          <p:cNvSpPr txBox="1"/>
          <p:nvPr/>
        </p:nvSpPr>
        <p:spPr>
          <a:xfrm>
            <a:off x="457200" y="22671"/>
            <a:ext cx="73023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ARX ALS ANONYMISIERUNGSWERKZEUG </a:t>
            </a:r>
            <a:r>
              <a:rPr b="0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Informationsmanagement in der klinischen Forschung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IMISE/MI-Lab-E03-Privacy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295275" y="2079625"/>
            <a:ext cx="80930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cap="none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MI-Lab Übung</a:t>
            </a:r>
            <a:r>
              <a:rPr lang="de-DE" sz="2800" cap="none">
                <a:latin typeface="Arial"/>
                <a:ea typeface="Arial"/>
                <a:cs typeface="Arial"/>
                <a:sym typeface="Arial"/>
              </a:rPr>
              <a:t>: ARX als Anonymisierungswerkzeug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295275" y="1606550"/>
            <a:ext cx="64008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>
                <a:latin typeface="Arial"/>
                <a:ea typeface="Arial"/>
                <a:cs typeface="Arial"/>
                <a:sym typeface="Arial"/>
              </a:rPr>
              <a:t>Informationsmanagement in der klinischen Forschung</a:t>
            </a:r>
            <a:endParaRPr/>
          </a:p>
        </p:txBody>
      </p:sp>
      <p:sp>
        <p:nvSpPr>
          <p:cNvPr id="107" name="Google Shape;107;p1"/>
          <p:cNvSpPr/>
          <p:nvPr>
            <p:ph idx="3" type="pic"/>
          </p:nvPr>
        </p:nvSpPr>
        <p:spPr>
          <a:xfrm>
            <a:off x="2473325" y="4438650"/>
            <a:ext cx="2044700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"/>
          <p:cNvSpPr txBox="1"/>
          <p:nvPr>
            <p:ph idx="4294967295" type="body"/>
          </p:nvPr>
        </p:nvSpPr>
        <p:spPr>
          <a:xfrm>
            <a:off x="295275" y="3600450"/>
            <a:ext cx="374491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Leipzig, </a:t>
            </a:r>
            <a:r>
              <a:rPr lang="de-DE" sz="1600">
                <a:latin typeface="Arial"/>
                <a:ea typeface="Arial"/>
                <a:cs typeface="Arial"/>
                <a:sym typeface="Arial"/>
              </a:rPr>
              <a:t>Datum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in Bild, das Schrift, Grafiken, Logo, Design enthält.&#10;&#10;Automatisch generierte Beschreibung" id="109" name="Google Shape;109;p1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554" l="0" r="0" t="1554"/>
          <a:stretch/>
        </p:blipFill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DISCLAIMER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9875" lvl="0" marL="269875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Die Übung basiert zu wesentlichen Teilen auf einer Präsentation der Funktionalitäten von ARX von (damals) Dr . Fabian Prasser vom </a:t>
            </a:r>
            <a:br>
              <a:rPr lang="de-DE"/>
            </a:br>
            <a:r>
              <a:rPr lang="de-DE"/>
              <a:t>Institut für medizinische Statistik und Epidemiologie, TU München</a:t>
            </a:r>
            <a:endParaRPr/>
          </a:p>
          <a:p>
            <a:pPr indent="-1555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Die Rechte an den Inhalten liegt bei der TMF Technologie und Methodenplattform für die vernetzte medizinische Forschung e.V. Berlin</a:t>
            </a:r>
            <a:endParaRPr/>
          </a:p>
          <a:p>
            <a:pPr indent="-1555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Keine Weiterverbreitung ohne Genehmigung der obigen Stellen!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INHALT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Vorbereitung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Einführung und Installation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Grundlegende Funktionalitäten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1: Schutz vor Re-Identifikation mit k Anonymität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2: Aufzeigen der optimalen Transformation und Finden der zweitbesten Lösung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3: Vergleich der Identifikationsrisiken vorher/nach Transformation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4: Erstellen einer eigenen Generalisierungshierarchie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5: Auswirkung der Generalisierungshierarchie auf die Distribution einzelner Merkmale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INHALT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Transformationsmodelle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6: Auswirkung von Suppression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Aufgabe 7: Auswirkung von Mirkoaggregation</a:t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EINFÜHRUNG</a:t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Aufgabenstellung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Erstellen Sie eine ARX Projektdatei für einen gegebenen Datensatz</a:t>
            </a:r>
            <a:endParaRPr/>
          </a:p>
          <a:p>
            <a:pPr indent="-1555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de-DE"/>
              <a:t>Dateien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Eingabedaten</a:t>
            </a:r>
            <a:endParaRPr/>
          </a:p>
          <a:p>
            <a:pPr indent="-257175" lvl="1" marL="714375" rtl="0" algn="l">
              <a:spcBef>
                <a:spcPts val="320"/>
              </a:spcBef>
              <a:spcAft>
                <a:spcPts val="0"/>
              </a:spcAft>
              <a:buSzPts val="1600"/>
              <a:buChar char="−"/>
            </a:pPr>
            <a:r>
              <a:rPr lang="de-DE"/>
              <a:t>MIMIC Ü3 full.csv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Hierarchien</a:t>
            </a:r>
            <a:endParaRPr/>
          </a:p>
          <a:p>
            <a:pPr indent="-257175" lvl="1" marL="714375" rtl="0" algn="l">
              <a:spcBef>
                <a:spcPts val="320"/>
              </a:spcBef>
              <a:spcAft>
                <a:spcPts val="0"/>
              </a:spcAft>
              <a:buSzPts val="1600"/>
              <a:buChar char="−"/>
            </a:pPr>
            <a:r>
              <a:rPr lang="de-DE"/>
              <a:t>Age.csv, insurance.csv, language.csv, martial-status.csv, race.csv, weight.csv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PROJEKT ANLEGEN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9875" lvl="0" marL="269875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Öffnen Sie ARX und wählen Sie aus dem Anwendungsmenü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de-DE"/>
              <a:t>	„File“ → „New project…“</a:t>
            </a:r>
            <a:endParaRPr/>
          </a:p>
          <a:p>
            <a:pPr indent="-269875" lvl="0" marL="269875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Vergeben Sie einen Projektnamen und klicken Sie “OK”</a:t>
            </a:r>
            <a:endParaRPr/>
          </a:p>
        </p:txBody>
      </p:sp>
      <p:sp>
        <p:nvSpPr>
          <p:cNvPr id="143" name="Google Shape;143;p6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8109" y="2335740"/>
            <a:ext cx="4227781" cy="226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457199" y="372533"/>
            <a:ext cx="4323229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DATEN IMPORTIEREN (1)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Wählen Sie aus dem Anwendungsmenü „File“ → „Import data“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Wählen Sie "CSV" und klicken Sie „Next“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Wählen Sie "Browse...„ und selektieren Sie die Datei „MIMIC Ü3.csv“</a:t>
            </a:r>
            <a:endParaRPr/>
          </a:p>
        </p:txBody>
      </p:sp>
      <p:pic>
        <p:nvPicPr>
          <p:cNvPr descr="Ein Bild, das Text, Screenshot, Software, Computersymbol enthält.&#10;&#10;Automatisch generierte Beschreibun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88" y="1371600"/>
            <a:ext cx="4960046" cy="27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>
            <p:ph idx="3" type="body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‹#›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457199" y="372533"/>
            <a:ext cx="3425543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DATEN IMPORTIEREN (2)</a:t>
            </a:r>
            <a:endParaRPr/>
          </a:p>
        </p:txBody>
      </p:sp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457199" y="1503680"/>
            <a:ext cx="3045759" cy="3195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Die Syntax der Datei wird automatisch erkannt</a:t>
            </a:r>
            <a:endParaRPr/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743" y="762000"/>
            <a:ext cx="4731314" cy="348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>
            <p:ph idx="3" type="body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‹#›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457199" y="372533"/>
            <a:ext cx="3136605" cy="99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EINGABEDATEI KONFIGURIEREN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Im folgenden Dialog können Sie die Eingabedatei konfigurieren</a:t>
            </a:r>
            <a:endParaRPr/>
          </a:p>
          <a:p>
            <a:pPr indent="-57150" lvl="0" marL="171450" rtl="0" algn="l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3238" y="762000"/>
            <a:ext cx="5150324" cy="348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>
            <p:ph idx="3" type="body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Calibri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</a:rPr>
              <a:t>‹#›</a:t>
            </a:fld>
            <a:endParaRPr sz="1000">
              <a:solidFill>
                <a:srgbClr val="D8413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VORANSICHT</a:t>
            </a: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Es erscheint eine Übersicht über den Datensatz</a:t>
            </a:r>
            <a:endParaRPr/>
          </a:p>
        </p:txBody>
      </p:sp>
      <p:pic>
        <p:nvPicPr>
          <p:cNvPr id="178" name="Google Shape;178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-6121" r="-6122" t="0"/>
          <a:stretch/>
        </p:blipFill>
        <p:spPr>
          <a:xfrm>
            <a:off x="3352800" y="762000"/>
            <a:ext cx="5687302" cy="342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/>
          <p:nvPr>
            <p:ph idx="3" type="body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ARX GUI</a:t>
            </a:r>
            <a:endParaRPr/>
          </a:p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9875" lvl="0" marL="269875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Klicken Sie auf die Attribute (Spalten) und ändern Sie den Typ</a:t>
            </a:r>
            <a:endParaRPr/>
          </a:p>
        </p:txBody>
      </p:sp>
      <p:sp>
        <p:nvSpPr>
          <p:cNvPr id="187" name="Google Shape;187;p11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006" y="1591382"/>
            <a:ext cx="5521842" cy="355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IMPORTIEREN VON HIERARCHIEN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9875" lvl="0" marL="269875" rtl="0" algn="l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/>
              <a:t>„File“ → „Import hierarchy ...“ für alle Attribute</a:t>
            </a:r>
            <a:endParaRPr/>
          </a:p>
        </p:txBody>
      </p:sp>
      <p:sp>
        <p:nvSpPr>
          <p:cNvPr id="195" name="Google Shape;195;p12"/>
          <p:cNvSpPr txBox="1"/>
          <p:nvPr>
            <p:ph idx="12" type="sldNum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9814" y="1564024"/>
            <a:ext cx="5564371" cy="357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b12c1389a_0_0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AUFGABEN (SIEHE ÜBUNGSBLATT)</a:t>
            </a:r>
            <a:endParaRPr/>
          </a:p>
        </p:txBody>
      </p:sp>
      <p:sp>
        <p:nvSpPr>
          <p:cNvPr id="203" name="Google Shape;203;g32b12c1389a_0_0"/>
          <p:cNvSpPr txBox="1"/>
          <p:nvPr>
            <p:ph idx="1" type="body"/>
          </p:nvPr>
        </p:nvSpPr>
        <p:spPr>
          <a:xfrm>
            <a:off x="457200" y="1223500"/>
            <a:ext cx="4114800" cy="33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Übungszettel in </a:t>
            </a:r>
            <a:r>
              <a:rPr b="1" lang="de-DE"/>
              <a:t>GitHub</a:t>
            </a:r>
            <a:r>
              <a:rPr lang="de-DE"/>
              <a:t>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https://github.com/IMISE/MI-Lab-E03-Privacy</a:t>
            </a:r>
            <a:endParaRPr>
              <a:solidFill>
                <a:schemeClr val="accent2"/>
              </a:solidFill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➔"/>
            </a:pPr>
            <a:r>
              <a:rPr lang="de-DE"/>
              <a:t>Unter /Aufgaben/Übungsblatt.pdf</a:t>
            </a:r>
            <a:endParaRPr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2b12c1389a_0_0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05" name="Google Shape;205;g32b12c1389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300" y="1002773"/>
            <a:ext cx="3742424" cy="36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ctrTitle"/>
          </p:nvPr>
        </p:nvSpPr>
        <p:spPr>
          <a:xfrm>
            <a:off x="365125" y="1584325"/>
            <a:ext cx="7985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VIELEN DANK!</a:t>
            </a:r>
            <a:endParaRPr/>
          </a:p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>
            <a:off x="365125" y="2449513"/>
            <a:ext cx="6924675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de-DE" sz="1600">
                <a:latin typeface="Arial"/>
                <a:ea typeface="Arial"/>
                <a:cs typeface="Arial"/>
                <a:sym typeface="Arial"/>
              </a:rPr>
              <a:t>Mona Perbix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www.imise.uni-leipzig.de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18-09-13-Vorlage 16 zu 9 - MF">
  <a:themeElements>
    <a:clrScheme name="mf">
      <a:dk1>
        <a:srgbClr val="000000"/>
      </a:dk1>
      <a:lt1>
        <a:srgbClr val="FFFFFF"/>
      </a:lt1>
      <a:dk2>
        <a:srgbClr val="262A31"/>
      </a:dk2>
      <a:lt2>
        <a:srgbClr val="E7E6E6"/>
      </a:lt2>
      <a:accent1>
        <a:srgbClr val="008AC9"/>
      </a:accent1>
      <a:accent2>
        <a:srgbClr val="00A7D6"/>
      </a:accent2>
      <a:accent3>
        <a:srgbClr val="FF5451"/>
      </a:accent3>
      <a:accent4>
        <a:srgbClr val="8AC2D1"/>
      </a:accent4>
      <a:accent5>
        <a:srgbClr val="262A31"/>
      </a:accent5>
      <a:accent6>
        <a:srgbClr val="FFFFFF"/>
      </a:accent6>
      <a:hlink>
        <a:srgbClr val="8AC2D1"/>
      </a:hlink>
      <a:folHlink>
        <a:srgbClr val="B02F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2_UniLeipzig_PPT Vorlage">
  <a:themeElements>
    <a:clrScheme name="MF 2018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008AC9"/>
      </a:accent1>
      <a:accent2>
        <a:srgbClr val="00A7D6"/>
      </a:accent2>
      <a:accent3>
        <a:srgbClr val="8AC2D1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8A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2018-09-28T08:09:47Z</dcterms:created>
  <dc:creator>Doris Gabel</dc:creator>
</cp:coreProperties>
</file>